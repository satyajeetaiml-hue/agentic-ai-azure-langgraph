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Welcome. This deck covers 'agentic-ai-azure-langgraph' — Companion · LangGraph on Azure. Frame the problem and why it matters, then walk the class through the learning goal, the enterprise use case, the architecture/flow, the key concepts, a live run in VS Code, and the architect's takeaways. The repo runs locally with no Azure, so demo it live.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[Learning goal] Walk through these talking points:</a:t>
            </a:r>
          </a:p>
          <a:p>
            <a:r>
              <a:t>- Build an agent as an explicit graph</a:t>
            </a:r>
          </a:p>
          <a:p>
            <a:r>
              <a:t>- Use typed state, nodes &amp; conditional edges</a:t>
            </a:r>
          </a:p>
          <a:p>
            <a:r>
              <a:t>- Compare LangGraph to the Microsoft Agent Framework</a:t>
            </a:r>
          </a:p>
          <a:p>
            <a:r>
              <a:t>Ask the class: which of these ideas is new to you?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[Enterprise use case] Walk through these talking points:</a:t>
            </a:r>
          </a:p>
          <a:p>
            <a:r>
              <a:t>- Support Triage Graph</a:t>
            </a:r>
          </a:p>
          <a:p>
            <a:r>
              <a:t>- Same triage problem as Week 1, as a StateGraph</a:t>
            </a:r>
          </a:p>
          <a:p>
            <a:r>
              <a:t>- Shows the 'path' of nodes visited</a:t>
            </a:r>
          </a:p>
          <a:p>
            <a:r>
              <a:t>Tip: relate this to a regulated scenario your students know.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[Architecture / flow] Walk through these talking points:</a:t>
            </a:r>
          </a:p>
          <a:p>
            <a:r>
              <a:t>- START → classify → (escalate | retrieve → respond) → END</a:t>
            </a:r>
          </a:p>
          <a:p>
            <a:r>
              <a:t>- classify sets severity &amp; category</a:t>
            </a:r>
          </a:p>
          <a:p>
            <a:r>
              <a:t>- conditional edge routes urgent → escalate</a:t>
            </a:r>
          </a:p>
          <a:p>
            <a:r>
              <a:t>- respond optionally rephrased by Azure OpenAI</a:t>
            </a:r>
          </a:p>
          <a:p>
            <a:r>
              <a:t>Demo: trace a single request through these steps live.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[Key concepts] Walk through these talking points:</a:t>
            </a:r>
          </a:p>
          <a:p>
            <a:r>
              <a:t>- StateGraph: add_node, add_conditional_edges, compile</a:t>
            </a:r>
          </a:p>
          <a:p>
            <a:r>
              <a:t>- Graph runs for real offline (nodes are Python)</a:t>
            </a:r>
          </a:p>
          <a:p>
            <a:r>
              <a:t>- langchain-openai AzureChatOpenAI is optional</a:t>
            </a:r>
          </a:p>
          <a:p>
            <a:r>
              <a:t>Open the named file in the repo while you explain each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[Run it (VS Code — no Azure needed)] Walk through these talking points:</a:t>
            </a:r>
          </a:p>
          <a:p>
            <a:r>
              <a:t>- git clone the repo, then open it in VS Code</a:t>
            </a:r>
          </a:p>
          <a:p>
            <a:r>
              <a:t>- python -m venv .venv  →  activate it</a:t>
            </a:r>
          </a:p>
          <a:p>
            <a:r>
              <a:t>- pip install -r requirements.txt</a:t>
            </a:r>
          </a:p>
          <a:p>
            <a:r>
              <a:t>- uvicorn app.main:app --reload</a:t>
            </a:r>
          </a:p>
          <a:p>
            <a:r>
              <a:t>- Open /docs and call  POST /api/v1/triage</a:t>
            </a:r>
          </a:p>
          <a:p>
            <a:r>
              <a:t>- Runs in MOCK mode — no Azure/keys needed</a:t>
            </a:r>
          </a:p>
          <a:p>
            <a:r>
              <a:t>Do this live: clone → install → run → hit /docs.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[Architect's takeaways] Walk through these talking points:</a:t>
            </a:r>
          </a:p>
          <a:p>
            <a:r>
              <a:t>- LangGraph shines when control flow is the hard part</a:t>
            </a:r>
          </a:p>
          <a:p>
            <a:r>
              <a:t>- Branches, loops, checkpoints, human-in-the-loop</a:t>
            </a:r>
          </a:p>
          <a:p>
            <a:r>
              <a:t>- Vendor-neutral; works with Azure OpenAI</a:t>
            </a:r>
          </a:p>
          <a:p>
            <a:r>
              <a:t>Discussion: when would you NOT choose this approach?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920240"/>
            <a:ext cx="9144000" cy="1737360"/>
          </a:xfrm>
          <a:prstGeom prst="rect">
            <a:avLst/>
          </a:prstGeom>
          <a:solidFill>
            <a:srgbClr val="0F6C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57400"/>
            <a:ext cx="8229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</a:rPr>
              <a:t>agentic-ai-azure-langgraph</a:t>
            </a:r>
          </a:p>
          <a:p>
            <a:r>
              <a:rPr sz="1600">
                <a:solidFill>
                  <a:srgbClr val="FFFFFF"/>
                </a:solidFill>
              </a:rPr>
              <a:t>Companion · LangGraph on Azure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9319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0F6CBD"/>
                </a:solidFill>
              </a:rPr>
              <a:t>Agentic AI on Azure — Enterprise Master Class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0F6CBD"/>
                </a:solidFill>
              </a:rPr>
              <a:t>Learning goal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>
                <a:solidFill>
                  <a:srgbClr val="202020"/>
                </a:solidFill>
              </a:rPr>
              <a:t>Build an agent as an explicit graph</a:t>
            </a:r>
          </a:p>
          <a:p>
            <a:r>
              <a:rPr sz="1800">
                <a:solidFill>
                  <a:srgbClr val="202020"/>
                </a:solidFill>
              </a:rPr>
              <a:t>Use typed state, nodes &amp; conditional edges</a:t>
            </a:r>
          </a:p>
          <a:p>
            <a:r>
              <a:rPr sz="1800">
                <a:solidFill>
                  <a:srgbClr val="202020"/>
                </a:solidFill>
              </a:rPr>
              <a:t>Compare LangGraph to the Microsoft Agent Framework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0F6CBD"/>
                </a:solidFill>
              </a:rPr>
              <a:t>Enterprise use case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>
                <a:solidFill>
                  <a:srgbClr val="202020"/>
                </a:solidFill>
              </a:rPr>
              <a:t>Support Triage Graph</a:t>
            </a:r>
          </a:p>
          <a:p>
            <a:r>
              <a:rPr sz="1800">
                <a:solidFill>
                  <a:srgbClr val="202020"/>
                </a:solidFill>
              </a:rPr>
              <a:t>Same triage problem as Week 1, as a StateGraph</a:t>
            </a:r>
          </a:p>
          <a:p>
            <a:r>
              <a:rPr sz="1800">
                <a:solidFill>
                  <a:srgbClr val="202020"/>
                </a:solidFill>
              </a:rPr>
              <a:t>Shows the 'path' of nodes visited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0F6CBD"/>
                </a:solidFill>
              </a:rPr>
              <a:t>Architecture / 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>
                <a:solidFill>
                  <a:srgbClr val="202020"/>
                </a:solidFill>
              </a:rPr>
              <a:t>START → classify → (escalate | retrieve → respond) → END</a:t>
            </a:r>
          </a:p>
          <a:p>
            <a:r>
              <a:rPr sz="1800">
                <a:solidFill>
                  <a:srgbClr val="202020"/>
                </a:solidFill>
              </a:rPr>
              <a:t>classify sets severity &amp; category</a:t>
            </a:r>
          </a:p>
          <a:p>
            <a:r>
              <a:rPr sz="1800">
                <a:solidFill>
                  <a:srgbClr val="202020"/>
                </a:solidFill>
              </a:rPr>
              <a:t>conditional edge routes urgent → escalate</a:t>
            </a:r>
          </a:p>
          <a:p>
            <a:r>
              <a:rPr sz="1800">
                <a:solidFill>
                  <a:srgbClr val="202020"/>
                </a:solidFill>
              </a:rPr>
              <a:t>respond optionally rephrased by Azure OpenAI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0F6CBD"/>
                </a:solidFill>
              </a:rPr>
              <a:t>Key concepts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>
                <a:solidFill>
                  <a:srgbClr val="202020"/>
                </a:solidFill>
              </a:rPr>
              <a:t>StateGraph: add_node, add_conditional_edges, compile</a:t>
            </a:r>
          </a:p>
          <a:p>
            <a:r>
              <a:rPr sz="1800">
                <a:solidFill>
                  <a:srgbClr val="202020"/>
                </a:solidFill>
              </a:rPr>
              <a:t>Graph runs for real offline (nodes are Python)</a:t>
            </a:r>
          </a:p>
          <a:p>
            <a:r>
              <a:rPr sz="1800">
                <a:solidFill>
                  <a:srgbClr val="202020"/>
                </a:solidFill>
              </a:rPr>
              <a:t>langchain-openai AzureChatOpenAI is optional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0F6CBD"/>
                </a:solidFill>
              </a:rPr>
              <a:t>Run it (VS Code — no Azure needed)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>
                <a:solidFill>
                  <a:srgbClr val="202020"/>
                </a:solidFill>
              </a:rPr>
              <a:t>git clone the repo, then open it in VS Code</a:t>
            </a:r>
          </a:p>
          <a:p>
            <a:r>
              <a:rPr sz="1800">
                <a:solidFill>
                  <a:srgbClr val="202020"/>
                </a:solidFill>
              </a:rPr>
              <a:t>python -m venv .venv  →  activate it</a:t>
            </a:r>
          </a:p>
          <a:p>
            <a:r>
              <a:rPr sz="1800">
                <a:solidFill>
                  <a:srgbClr val="202020"/>
                </a:solidFill>
              </a:rPr>
              <a:t>pip install -r requirements.txt</a:t>
            </a:r>
          </a:p>
          <a:p>
            <a:r>
              <a:rPr sz="1800">
                <a:solidFill>
                  <a:srgbClr val="202020"/>
                </a:solidFill>
              </a:rPr>
              <a:t>uvicorn app.main:app --reload</a:t>
            </a:r>
          </a:p>
          <a:p>
            <a:r>
              <a:rPr sz="1800">
                <a:solidFill>
                  <a:srgbClr val="202020"/>
                </a:solidFill>
              </a:rPr>
              <a:t>Open /docs and call  POST /api/v1/triage</a:t>
            </a:r>
          </a:p>
          <a:p>
            <a:r>
              <a:rPr sz="1800">
                <a:solidFill>
                  <a:srgbClr val="202020"/>
                </a:solidFill>
              </a:rPr>
              <a:t>Runs in MOCK mode — no Azure/keys needed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0F6CBD"/>
                </a:solidFill>
              </a:rPr>
              <a:t>Architect's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>
                <a:solidFill>
                  <a:srgbClr val="202020"/>
                </a:solidFill>
              </a:rPr>
              <a:t>LangGraph shines when control flow is the hard part</a:t>
            </a:r>
          </a:p>
          <a:p>
            <a:r>
              <a:rPr sz="1800">
                <a:solidFill>
                  <a:srgbClr val="202020"/>
                </a:solidFill>
              </a:rPr>
              <a:t>Branches, loops, checkpoints, human-in-the-loop</a:t>
            </a:r>
          </a:p>
          <a:p>
            <a:r>
              <a:rPr sz="1800">
                <a:solidFill>
                  <a:srgbClr val="202020"/>
                </a:solidFill>
              </a:rPr>
              <a:t>Vendor-neutral; works with Azure OpenAI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